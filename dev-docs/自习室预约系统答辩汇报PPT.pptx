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8" r:id="rId13"/>
    <p:sldId id="269" r:id="rId14"/>
    <p:sldId id="272" r:id="rId15"/>
    <p:sldId id="273" r:id="rId16"/>
    <p:sldId id="275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8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17.06.2026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video" Target="file:///F:\&#21407;D&#30424;\&#26700;&#38754;\c51d51612f699f1b1269bb0b527ad10e.mp4" TargetMode="Externa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1079500"/>
            <a:ext cx="1651000" cy="317500"/>
          </a:xfrm>
          <a:prstGeom prst="roundRect">
            <a:avLst>
              <a:gd name="adj" fmla="val 36000"/>
            </a:avLst>
          </a:prstGeom>
          <a:solidFill>
            <a:srgbClr val="6C63FF">
              <a:alpha val="92000"/>
            </a:srgbClr>
          </a:solidFill>
          <a:ln w="12700" cap="flat" cmpd="sng">
            <a:solidFill>
              <a:srgbClr val="6C63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498600" cy="165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000" b="1" i="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项目</a:t>
            </a:r>
            <a:r>
              <a:rPr lang="zh-CN" altLang="en-US" sz="1000" b="1" i="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答辩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60400" y="1663700"/>
            <a:ext cx="67183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4600" b="1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自习室</a:t>
            </a:r>
            <a:r>
              <a:rPr lang="en-US" sz="4600" b="1" i="0" u="none" strike="noStrik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预约系统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698500" y="2362200"/>
            <a:ext cx="53086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dirty="0" err="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S</a:t>
            </a:r>
            <a:r>
              <a:rPr lang="en-US" altLang="zh-CN" sz="1800" dirty="0" err="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tudyroom</a:t>
            </a:r>
            <a:r>
              <a:rPr lang="en-US" sz="1800" b="0" i="0" u="none" strike="noStrike" dirty="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 Reservation </a:t>
            </a:r>
            <a:r>
              <a:rPr lang="en-US" sz="1800" dirty="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P</a:t>
            </a:r>
            <a:r>
              <a:rPr lang="en-US" altLang="zh-CN" sz="1800" dirty="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rPr>
              <a:t>roject</a:t>
            </a: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>
            <a:off x="711200" y="2908300"/>
            <a:ext cx="219713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sq" cmpd="sng">
            <a:solidFill>
              <a:srgbClr val="6C63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31711" y="3883844"/>
            <a:ext cx="5029200" cy="42852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b="0" i="0" u="none" strike="noStrik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组号：</a:t>
            </a:r>
            <a:r>
              <a:rPr lang="en-US" altLang="zh-CN" sz="2000" b="0" i="0" u="none" strike="noStrik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  <a:p>
            <a:pPr marL="0" indent="0" algn="l">
              <a:lnSpc>
                <a:spcPct val="100000"/>
              </a:lnSpc>
              <a:defRPr/>
            </a:pPr>
            <a:r>
              <a:rPr lang="en-US" sz="2000" b="0" i="0" u="none" strike="noStrik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成员：付娆</a:t>
            </a:r>
            <a:r>
              <a:rPr lang="en-US" sz="2000" b="0" i="0" u="none" strike="noStrik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zh-CN" altLang="en-US" sz="2000" b="0" i="0" u="none" strike="noStrik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郭静怡</a:t>
            </a:r>
            <a:endParaRPr lang="en-US" sz="2000" dirty="0"/>
          </a:p>
        </p:txBody>
      </p:sp>
      <p:sp>
        <p:nvSpPr>
          <p:cNvPr id="8" name="AutoShape 8"/>
          <p:cNvSpPr/>
          <p:nvPr/>
        </p:nvSpPr>
        <p:spPr>
          <a:xfrm>
            <a:off x="711200" y="4191000"/>
            <a:ext cx="50292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教室预约系统 · 项目进展汇报 · 2026.06.15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lang="en-US" sz="11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986" y="1791094"/>
            <a:ext cx="5976593" cy="3329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CONTENTS / 项目汇报核心议程与阶段成果概览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74700" y="1511300"/>
            <a:ext cx="5080000" cy="452120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92200" y="1816100"/>
            <a:ext cx="762000" cy="762000"/>
          </a:xfrm>
          <a:prstGeom prst="ellipse">
            <a:avLst/>
          </a:prstGeom>
          <a:solidFill>
            <a:srgbClr val="3B82F6">
              <a:alpha val="100000"/>
            </a:srgbClr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92200" y="1905000"/>
            <a:ext cx="76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70100" y="1778000"/>
            <a:ext cx="18288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项目概览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70100" y="2133600"/>
            <a:ext cx="3200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整体规划 / 技术选型 / 核心功能架构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82700" y="29718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11300" y="2984500"/>
            <a:ext cx="38862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项目概述：阐述自习室预约系统的背景、目标用户群体及解决的核心痛点问题。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82700" y="35179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11300" y="3530600"/>
            <a:ext cx="38862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技术栈与架构：介绍前后端技术选型、系统分层架构设计及数据库逻辑关系。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82700" y="40640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11300" y="4076700"/>
            <a:ext cx="38862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核心功能介绍：解析学生端预约流程与管理员端后台管理的关键业务模块。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47800" y="4508500"/>
            <a:ext cx="39497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等线"/>
                <a:ea typeface="等线"/>
                <a:cs typeface="等线"/>
                <a:sym typeface="等线"/>
              </a:rPr>
              <a:t>从业务场景出发，明确系统建设的必要性，确立技术架构的可行性与扩展性。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97600" y="1485900"/>
            <a:ext cx="5080000" cy="452120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29400" y="18161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12700" cap="flat" cmpd="sng">
            <a:solidFill>
              <a:srgbClr val="10B981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29400" y="1905000"/>
            <a:ext cx="76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07300" y="1778000"/>
            <a:ext cx="18288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实现与总结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07300" y="2133600"/>
            <a:ext cx="3200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开发流程 / 部署实践 / 成果亮点复盘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07200" y="29718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035800" y="2984500"/>
            <a:ext cx="38862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核心开发流程：梳理需求分析、原型设计、编码实现及测试优化的全周期步骤。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807200" y="35179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035800" y="3530600"/>
            <a:ext cx="38862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CI/CD与安全部署：配置自动化构建流水线，实施接口鉴权与数据加密等安全策略。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07200" y="40640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035800" y="4076700"/>
            <a:ext cx="38862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项目亮点与总结：提炼系统的创新点、性能指标达成情况及后续改进方向。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972300" y="4508500"/>
            <a:ext cx="39497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等线"/>
                <a:ea typeface="等线"/>
                <a:cs typeface="等线"/>
                <a:sym typeface="等线"/>
              </a:rPr>
              <a:t>通过标准化的开发与部署体系，保障系统稳定运行，同时沉淀可复用的技术资产。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自习室预约系统 · 项目答辩汇报 · 2026.05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项目概述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PROJECT OVERVIEW：聚焦用户需求，构建高效、易用的智慧教室预约解决方案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96900" y="1422400"/>
            <a:ext cx="3429000" cy="45212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00100" y="1663700"/>
            <a:ext cx="533400" cy="533400"/>
          </a:xfrm>
          <a:prstGeom prst="roundRect">
            <a:avLst>
              <a:gd name="adj" fmla="val 16666"/>
            </a:avLst>
          </a:prstGeom>
          <a:solidFill>
            <a:srgbClr val="3B82F6">
              <a:alpha val="100000"/>
            </a:srgbClr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460500" y="1714500"/>
            <a:ext cx="19177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核心目标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38986" y="2489200"/>
            <a:ext cx="265914" cy="27285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168400" y="2846894"/>
            <a:ext cx="2514600" cy="67100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学生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r>
              <a:rPr lang="zh-CN" altLang="en-US" sz="1300" dirty="0">
                <a:latin typeface="Noto Sans"/>
              </a:rPr>
              <a:t>为在校学生提供一站式教室预约服务，支持按时间、容量、设备条件筛选可预约教室，在线提交预约申请、查看预约状态，并支持在预约生效前取消申请，解决传统线下预约流程繁琐、教室资源分配不透明的问题</a:t>
            </a:r>
            <a:r>
              <a:rPr lang="zh-CN" altLang="en-US" sz="1200" dirty="0"/>
              <a:t>。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-14691">
            <a:off x="800114" y="3803650"/>
            <a:ext cx="297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91852" y="4063999"/>
            <a:ext cx="313048" cy="26290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168400" y="4609707"/>
            <a:ext cx="2514600" cy="4702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管理员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r>
              <a:rPr lang="zh-CN" altLang="en-US" sz="1300" dirty="0">
                <a:latin typeface="Noto Sans"/>
              </a:rPr>
              <a:t>为系统管理员提供全流程后台管理能力，包括学生账号管理、教室信息维护、预约记录审核、黑名单管理等功能，可对违规预约、恶意刷约行为进行管控，保障教室资源公平、高效使用。</a:t>
            </a:r>
            <a:endParaRPr lang="en-US" sz="1300" dirty="0">
              <a:latin typeface="Noto San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94200" y="1422400"/>
            <a:ext cx="3429000" cy="45212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97400" y="1663700"/>
            <a:ext cx="533400" cy="533400"/>
          </a:xfrm>
          <a:prstGeom prst="roundRect">
            <a:avLst>
              <a:gd name="adj" fmla="val 16666"/>
            </a:avLst>
          </a:prstGeom>
          <a:solidFill>
            <a:srgbClr val="F97316">
              <a:alpha val="100000"/>
            </a:srgbClr>
          </a:solidFill>
          <a:ln w="12700" cap="flat" cmpd="sng">
            <a:solidFill>
              <a:srgbClr val="F97316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257800" y="1714500"/>
            <a:ext cx="19177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用户角色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299930" y="2384981"/>
            <a:ext cx="771691" cy="35821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F97316"/>
                </a:solidFill>
                <a:latin typeface="Noto Sans"/>
                <a:ea typeface="Noto Sans"/>
                <a:cs typeface="Noto Sans"/>
                <a:sym typeface="Noto Sans"/>
              </a:rPr>
              <a:t>S</a:t>
            </a:r>
            <a:r>
              <a:rPr lang="en-US" altLang="zh-CN" sz="1400" b="1" i="0" u="none" strike="noStrike" dirty="0">
                <a:solidFill>
                  <a:srgbClr val="F97316"/>
                </a:solidFill>
                <a:latin typeface="Noto Sans"/>
                <a:ea typeface="Noto Sans"/>
                <a:cs typeface="Noto Sans"/>
                <a:sym typeface="Noto Sans"/>
              </a:rPr>
              <a:t>tudent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5052767" y="2648932"/>
            <a:ext cx="2677211" cy="1008667"/>
          </a:xfrm>
          <a:prstGeom prst="roundRect">
            <a:avLst>
              <a:gd name="adj" fmla="val 11404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学生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r>
              <a:rPr lang="zh-CN" altLang="en-US" sz="1300" dirty="0">
                <a:latin typeface="Noto Sans"/>
              </a:rPr>
              <a:t>作为系统的核心服务对象，学生可通过身份验证登录系统，使用教室查询、预约、取消、个人预约记录管理等全部学生端功能，同时受预约规则限制（如黑名单、取消次数限制），确保预约行为合规</a:t>
            </a:r>
            <a:r>
              <a:rPr lang="zh-CN" altLang="en-US" sz="1200" dirty="0"/>
              <a:t>。</a:t>
            </a:r>
            <a:endParaRPr lang="en-US" sz="1100" dirty="0"/>
          </a:p>
        </p:txBody>
      </p:sp>
      <p:cxnSp>
        <p:nvCxnSpPr>
          <p:cNvPr id="18" name="Connector 18"/>
          <p:cNvCxnSpPr/>
          <p:nvPr/>
        </p:nvCxnSpPr>
        <p:spPr>
          <a:xfrm rot="-14691">
            <a:off x="4597414" y="3803650"/>
            <a:ext cx="297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330700" y="4110087"/>
            <a:ext cx="684360" cy="2356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F97316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r>
              <a:rPr lang="en-US" altLang="zh-CN" sz="1400" b="1" i="0" u="none" strike="noStrike" dirty="0">
                <a:solidFill>
                  <a:srgbClr val="F97316"/>
                </a:solidFill>
                <a:latin typeface="Noto Sans"/>
                <a:ea typeface="Noto Sans"/>
                <a:cs typeface="Noto Sans"/>
                <a:sym typeface="Noto Sans"/>
              </a:rPr>
              <a:t>dmin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996206" y="4298623"/>
            <a:ext cx="2667786" cy="1074655"/>
          </a:xfrm>
          <a:prstGeom prst="roundRect">
            <a:avLst>
              <a:gd name="adj" fmla="val 23077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管理员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r>
              <a:rPr lang="zh-CN" altLang="en-US" sz="1300" dirty="0">
                <a:latin typeface="Noto Sans"/>
              </a:rPr>
              <a:t>作为系统的权限管控角色，管理员拥有后台全部管理权限，可维护教室资源、审核预约申请、管理学生账号与黑名单、查看系统运行数据，是保障系统正常运转、规范教室使用秩序的核心角色</a:t>
            </a:r>
            <a:endParaRPr lang="en-US" sz="1300" dirty="0">
              <a:latin typeface="Noto San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229600" y="1498600"/>
            <a:ext cx="3429000" cy="45212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394700" y="1663700"/>
            <a:ext cx="533400" cy="533400"/>
          </a:xfrm>
          <a:prstGeom prst="roundRect">
            <a:avLst>
              <a:gd name="adj" fmla="val 16666"/>
            </a:avLst>
          </a:prstGeom>
          <a:solidFill>
            <a:srgbClr val="8B5CF6">
              <a:alpha val="100000"/>
            </a:srgbClr>
          </a:solidFill>
          <a:ln w="12700" cap="flat" cmpd="sng">
            <a:solidFill>
              <a:srgbClr val="8B5CF6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055100" y="1714500"/>
            <a:ext cx="19177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系统形态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534399" y="2489200"/>
            <a:ext cx="298515" cy="2068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8B5CF6"/>
                </a:solidFill>
                <a:latin typeface="Noto Sans"/>
                <a:ea typeface="Noto Sans"/>
                <a:cs typeface="Noto Sans"/>
                <a:sym typeface="Noto Sans"/>
              </a:rPr>
              <a:t>AR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8927184" y="2318994"/>
            <a:ext cx="2350416" cy="1065229"/>
          </a:xfrm>
          <a:prstGeom prst="roundRect">
            <a:avLst>
              <a:gd name="adj" fmla="val 5504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架构：前后端分离架构，搭配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MySQL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数据库存储数据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lang="en-US" sz="1600" dirty="0"/>
          </a:p>
        </p:txBody>
      </p:sp>
      <p:cxnSp>
        <p:nvCxnSpPr>
          <p:cNvPr id="26" name="Connector 26"/>
          <p:cNvCxnSpPr/>
          <p:nvPr/>
        </p:nvCxnSpPr>
        <p:spPr>
          <a:xfrm rot="-14691">
            <a:off x="8394714" y="3803650"/>
            <a:ext cx="297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534400" y="4064000"/>
            <a:ext cx="279662" cy="2723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8B5CF6"/>
                </a:solidFill>
                <a:latin typeface="Noto Sans"/>
                <a:ea typeface="Noto Sans"/>
                <a:cs typeface="Noto Sans"/>
                <a:sym typeface="Noto Sans"/>
              </a:rPr>
              <a:t>DP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8889476" y="3996965"/>
            <a:ext cx="2388124" cy="10180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部署：基于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Docker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容器化，通过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Railway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云平台部署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lang="en-US" sz="1600" dirty="0"/>
          </a:p>
        </p:txBody>
      </p:sp>
      <p:sp>
        <p:nvSpPr>
          <p:cNvPr id="29" name="AutoShape 29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自习室预约系统 · 项目概述汇报 · 2026.05.13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技术栈概览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TECHNOLOGY STACK - 构建稳定、高效、可扩展的自习室预约系统技术底座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85800" y="1422400"/>
            <a:ext cx="10833100" cy="4432300"/>
          </a:xfrm>
          <a:prstGeom prst="roundRect">
            <a:avLst>
              <a:gd name="adj" fmla="val 171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65200" y="1778000"/>
            <a:ext cx="20066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系统模块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0" y="1778000"/>
            <a:ext cx="2540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核心技术选型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2235200"/>
            <a:ext cx="25146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后端服务层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708400" y="2235200"/>
            <a:ext cx="5626100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835400" y="2298700"/>
            <a:ext cx="53721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基于 Java 生态，采用 Spring Boot 框架快速开发，集成 MyBatis 实现高效数据持久化操作。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652000" y="2235200"/>
            <a:ext cx="19050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Java / Spring Boot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65200" y="3060700"/>
            <a:ext cx="25146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前端交互层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08400" y="3060700"/>
            <a:ext cx="5626100" cy="457200"/>
          </a:xfrm>
          <a:prstGeom prst="roundRect">
            <a:avLst>
              <a:gd name="adj" fmla="val 11111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835400" y="3124200"/>
            <a:ext cx="53721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原生 HTML/CSS/JS 结合 Vue.js 构建响应式用户界面，实现组件化开发，提升用户交互体验。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652000" y="3060700"/>
            <a:ext cx="19050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Vue.js / JS 生态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65200" y="3886200"/>
            <a:ext cx="25146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数据存储层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708400" y="3886200"/>
            <a:ext cx="5626100" cy="457200"/>
          </a:xfrm>
          <a:prstGeom prst="roundRect">
            <a:avLst>
              <a:gd name="adj" fmla="val 11111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D1FAE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3835400" y="3949700"/>
            <a:ext cx="53721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选用 MySQL 8.0 作为核心关系型数据库，支持事务处理与复杂查询，保障数据的一致性与完整性。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652000" y="3886200"/>
            <a:ext cx="19050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65200" y="4711700"/>
            <a:ext cx="25146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部署与测试体系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708400" y="4711700"/>
            <a:ext cx="5626100" cy="457200"/>
          </a:xfrm>
          <a:prstGeom prst="roundRect">
            <a:avLst>
              <a:gd name="adj" fmla="val 11111"/>
            </a:avLst>
          </a:prstGeom>
          <a:solidFill>
            <a:srgbClr val="F5F3FF">
              <a:alpha val="100000"/>
            </a:srgbClr>
          </a:solidFill>
          <a:ln w="12700" cap="flat" cmpd="sng">
            <a:solidFill>
              <a:srgbClr val="EDE9F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3835400" y="4775200"/>
            <a:ext cx="53721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Docker 容器化部署，Railway 云端托管，GitHub Actions 实现 CI/CD；集成 Jest、JaCoCo 覆盖测试。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652000" y="4711700"/>
            <a:ext cx="1905000" cy="292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/ CI/CD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65200" y="5410200"/>
            <a:ext cx="99695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架构优势：前后端分离降低耦合，容器化确保环境一致性，全链路自动化测试提升系统交付质量。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自习室预约系统 · 技术架构汇报 · 2026.05.13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核心功能 - 学生端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STUDENT FEATURES：为学生用户提供便捷、高效的教室预约与管理服务体系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96900" y="1422400"/>
            <a:ext cx="3429000" cy="45212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00100" y="1663700"/>
            <a:ext cx="533400" cy="533400"/>
          </a:xfrm>
          <a:prstGeom prst="roundRect">
            <a:avLst>
              <a:gd name="adj" fmla="val 16666"/>
            </a:avLst>
          </a:prstGeom>
          <a:solidFill>
            <a:srgbClr val="3B82F6">
              <a:alpha val="100000"/>
            </a:srgbClr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460500" y="1714500"/>
            <a:ext cx="19177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查询空闲教室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39800" y="24892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68400" y="2501900"/>
            <a:ext cx="2514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支持按校区、教学楼、具体时间段等多维度条件筛选，实时展示可预约的教室列表，直观呈现教室资源状态。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691">
            <a:off x="800114" y="3803650"/>
            <a:ext cx="297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00100" y="4064000"/>
            <a:ext cx="30226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系统自动同步教室占用数据，确保查询结果的实时性与准确性，帮助学生快速定位符合需求的自习或活动场地。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4200" y="1422400"/>
            <a:ext cx="3429000" cy="45212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97400" y="1663700"/>
            <a:ext cx="533400" cy="533400"/>
          </a:xfrm>
          <a:prstGeom prst="roundRect">
            <a:avLst>
              <a:gd name="adj" fmla="val 16666"/>
            </a:avLst>
          </a:prstGeom>
          <a:solidFill>
            <a:srgbClr val="F59E0B">
              <a:alpha val="100000"/>
            </a:srgbClr>
          </a:solidFill>
          <a:ln w="12700" cap="flat" cmpd="sng">
            <a:solidFill>
              <a:srgbClr val="F59E0B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257800" y="1714500"/>
            <a:ext cx="19177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预约与取消管理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56841" y="2489200"/>
            <a:ext cx="245359" cy="2822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4965700" y="2501900"/>
            <a:ext cx="2514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选定目标教室和预约时段后一键提交申请，在预约生效前的规定时间内，可自由操作取消预约，流程简洁高效。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691">
            <a:off x="4597414" y="3803650"/>
            <a:ext cx="297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97400" y="4064000"/>
            <a:ext cx="30226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预约状态实时同步更新，取消操作即时释放教室资源，有效避免资源浪费，保障预约机制的灵活性与公平性。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29600" y="1498600"/>
            <a:ext cx="3429000" cy="45212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394700" y="1663700"/>
            <a:ext cx="533400" cy="533400"/>
          </a:xfrm>
          <a:prstGeom prst="roundRect">
            <a:avLst>
              <a:gd name="adj" fmla="val 16666"/>
            </a:avLst>
          </a:prstGeom>
          <a:solidFill>
            <a:srgbClr val="10B981">
              <a:alpha val="100000"/>
            </a:srgbClr>
          </a:solidFill>
          <a:ln w="12700" cap="flat" cmpd="sng">
            <a:solidFill>
              <a:srgbClr val="10B981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055100" y="1714500"/>
            <a:ext cx="19177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个人中心服务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42722" y="2489200"/>
            <a:ext cx="356778" cy="32941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8763000" y="2501900"/>
            <a:ext cx="25146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集中展示个人所有历史预约记录，支持查看预约详情与状态；同时提供个人信息维护、登录密码修改等基础功能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lang="en-US" sz="1100" dirty="0"/>
          </a:p>
        </p:txBody>
      </p:sp>
      <p:cxnSp>
        <p:nvCxnSpPr>
          <p:cNvPr id="24" name="Connector 24"/>
          <p:cNvCxnSpPr/>
          <p:nvPr/>
        </p:nvCxnSpPr>
        <p:spPr>
          <a:xfrm rot="-14691">
            <a:off x="8394714" y="3803650"/>
            <a:ext cx="297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394700" y="4064000"/>
            <a:ext cx="30226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为学生提供一站式的个人管理入口，清晰梳理预约轨迹，保障账户信息安全，提升用户使用体验与系统粘性</a:t>
            </a:r>
            <a:r>
              <a:rPr lang="en-US" sz="13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教室预约系统 · 学生端功能模块 · 2026.05.13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lang="en-US" sz="110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1216" y="1300900"/>
            <a:ext cx="9480466" cy="4287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77848" y="1429863"/>
            <a:ext cx="8953500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34561" y="1150757"/>
            <a:ext cx="86360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核心功能 - 管理员端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ADMIN FEATURES：构建高效、安全、规范的自习室后台管理体系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96900" y="1422400"/>
            <a:ext cx="3429000" cy="45212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00100" y="1663700"/>
            <a:ext cx="533400" cy="533400"/>
          </a:xfrm>
          <a:prstGeom prst="roundRect">
            <a:avLst>
              <a:gd name="adj" fmla="val 16666"/>
            </a:avLst>
          </a:prstGeom>
          <a:solidFill>
            <a:srgbClr val="3B82F6">
              <a:alpha val="100000"/>
            </a:srgbClr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460500" y="1714500"/>
            <a:ext cx="19177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用户与教室管理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691">
            <a:off x="800114" y="2406650"/>
            <a:ext cx="297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00100" y="2667000"/>
            <a:ext cx="3022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负责维护系统基础数据，支持对学生信息（学号、身份、权限）和教室信息（位置、座位数、设备状态）进行全生命周期的增、删、改、查操作，确保数据准确完整。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0100" y="4191000"/>
            <a:ext cx="30226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27100" y="4318000"/>
            <a:ext cx="2768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关键价值：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夯实数据底座，为前台预约和后台决策提供可靠的信息支撑，保障业务逻辑的一致性。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94200" y="1422400"/>
            <a:ext cx="3429000" cy="45212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97400" y="1663700"/>
            <a:ext cx="533400" cy="533400"/>
          </a:xfrm>
          <a:prstGeom prst="roundRect">
            <a:avLst>
              <a:gd name="adj" fmla="val 16666"/>
            </a:avLst>
          </a:prstGeom>
          <a:solidFill>
            <a:srgbClr val="F59E0B">
              <a:alpha val="100000"/>
            </a:srgbClr>
          </a:solidFill>
          <a:ln w="12700" cap="flat" cmpd="sng">
            <a:solidFill>
              <a:srgbClr val="F59E0B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257800" y="1714500"/>
            <a:ext cx="19177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预约记录管理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691">
            <a:off x="4597414" y="2406650"/>
            <a:ext cx="297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97400" y="2667000"/>
            <a:ext cx="3022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查看全平台的预约记录详情，包括预约人、时段、座位号等。针对异常预约（如重复预约、超时占用）进行审核、撤销和干预处理，维护预约秩序。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97400" y="4191000"/>
            <a:ext cx="3022600" cy="1270000"/>
          </a:xfrm>
          <a:prstGeom prst="roundRect">
            <a:avLst>
              <a:gd name="adj" fmla="val 0"/>
            </a:avLst>
          </a:prstGeom>
          <a:solidFill>
            <a:srgbClr val="FFFBEB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724400" y="4318000"/>
            <a:ext cx="2768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关键价值：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实现对预约全流程的可视化监控，快速响应异常情况，避免资源浪费，提升自习室资源的利用效率和公平性。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29600" y="1498600"/>
            <a:ext cx="3429000" cy="45212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394700" y="1663700"/>
            <a:ext cx="533400" cy="533400"/>
          </a:xfrm>
          <a:prstGeom prst="roundRect">
            <a:avLst>
              <a:gd name="adj" fmla="val 16666"/>
            </a:avLst>
          </a:prstGeom>
          <a:solidFill>
            <a:srgbClr val="EF4444">
              <a:alpha val="100000"/>
            </a:srgbClr>
          </a:solidFill>
          <a:ln w="12700" cap="flat" cmpd="sng">
            <a:solidFill>
              <a:srgbClr val="EF4444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055100" y="1714500"/>
            <a:ext cx="19177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黑名单管理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691">
            <a:off x="8394714" y="2406650"/>
            <a:ext cx="2971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394700" y="2667000"/>
            <a:ext cx="3022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建立用户行为规范机制，对恶意占座、频繁违约、破坏公物等违规用户进行标记，限制或冻结其预约权限，必要时可解除限制，引导用户合规使用。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94700" y="4191000"/>
            <a:ext cx="3022600" cy="1270000"/>
          </a:xfrm>
          <a:prstGeom prst="roundRect">
            <a:avLst>
              <a:gd name="adj" fmla="val 0"/>
            </a:avLst>
          </a:prstGeom>
          <a:solidFill>
            <a:srgbClr val="FEF2F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521700" y="4318000"/>
            <a:ext cx="27686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关键价值：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以技术手段约束用户行为，营造良好的自习环境，保障大多数用户的合法权益，降低人工管理成本。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自习室预约系统 · 管理员端功能介绍 · 2026.05.13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lang="en-US" sz="110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645" y="1904804"/>
            <a:ext cx="6619151" cy="3562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70342" y="1933095"/>
            <a:ext cx="7264236" cy="3839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11982" y="1747659"/>
            <a:ext cx="9244149" cy="397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42854" y="1910402"/>
            <a:ext cx="914400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800" dirty="0"/>
              <a:t>前期工作流程：架构与设计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1100" dirty="0"/>
              <a:t>前端开发 </a:t>
            </a:r>
            <a:r>
              <a:rPr lang="en-US" altLang="zh-CN" sz="1100" dirty="0"/>
              <a:t>- </a:t>
            </a:r>
            <a:r>
              <a:rPr lang="zh-CN" altLang="en-US" sz="1100" dirty="0"/>
              <a:t>郭静怡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272619" y="1866507"/>
            <a:ext cx="600433" cy="589045"/>
          </a:xfrm>
          <a:prstGeom prst="ellipse">
            <a:avLst/>
          </a:prstGeom>
          <a:solidFill>
            <a:srgbClr val="6C63FF">
              <a:alpha val="100000"/>
            </a:srgbClr>
          </a:solidFill>
          <a:ln w="12700" cap="flat" cmpd="sng">
            <a:solidFill>
              <a:srgbClr val="6C63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14749" y="1952134"/>
            <a:ext cx="76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2070100" y="1778000"/>
            <a:ext cx="1828800" cy="7106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2000" dirty="0"/>
              <a:t>UI/UX </a:t>
            </a:r>
            <a:r>
              <a:rPr lang="zh-CN" altLang="en-US" sz="2000" dirty="0"/>
              <a:t>设计</a:t>
            </a:r>
            <a:r>
              <a:rPr lang="en-US" altLang="zh-CN" sz="2000" dirty="0"/>
              <a:t>: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2070100" y="2133600"/>
            <a:ext cx="3200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282700" y="29718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6C63F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11300" y="2984500"/>
            <a:ext cx="3886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dirty="0"/>
              <a:t>设计全套前端页面：登录页、学生 </a:t>
            </a:r>
            <a:r>
              <a:rPr lang="en-US" altLang="zh-CN" dirty="0"/>
              <a:t>/ </a:t>
            </a:r>
            <a:r>
              <a:rPr lang="zh-CN" altLang="en-US" dirty="0"/>
              <a:t>管理员首页、预约 </a:t>
            </a:r>
            <a:r>
              <a:rPr lang="en-US" altLang="zh-CN" dirty="0"/>
              <a:t>/ </a:t>
            </a:r>
            <a:r>
              <a:rPr lang="zh-CN" altLang="en-US" dirty="0"/>
              <a:t>管理页面等。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282700" y="39370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6C63F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511300" y="3949700"/>
            <a:ext cx="3886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dirty="0"/>
              <a:t>交互重点：学生侧优化预约流程，管理员侧强化数据管理效率。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480008" y="4553146"/>
            <a:ext cx="4184192" cy="135235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dirty="0"/>
              <a:t>安全体验：实现表单校验、登录失败限制、统一错误提示。</a:t>
            </a:r>
            <a:endParaRPr lang="en-US" dirty="0"/>
          </a:p>
        </p:txBody>
      </p:sp>
      <p:sp>
        <p:nvSpPr>
          <p:cNvPr id="15" name="AutoShape 15"/>
          <p:cNvSpPr/>
          <p:nvPr/>
        </p:nvSpPr>
        <p:spPr>
          <a:xfrm>
            <a:off x="6197600" y="1485900"/>
            <a:ext cx="5080000" cy="452120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25006" y="1970202"/>
            <a:ext cx="566393" cy="565608"/>
          </a:xfrm>
          <a:prstGeom prst="ellipse">
            <a:avLst/>
          </a:prstGeom>
          <a:solidFill>
            <a:srgbClr val="F59E0B">
              <a:alpha val="100000"/>
            </a:srgbClr>
          </a:solidFill>
          <a:ln w="12700" cap="flat" cmpd="sng">
            <a:solidFill>
              <a:srgbClr val="F59E0B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29400" y="1905000"/>
            <a:ext cx="76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607300" y="1777999"/>
            <a:ext cx="1828800" cy="73895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b="1" dirty="0">
                <a:solidFill>
                  <a:srgbClr val="111827"/>
                </a:solidFill>
                <a:latin typeface="Noto Sans"/>
                <a:sym typeface="Noto Sans"/>
              </a:rPr>
              <a:t>软件架构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607300" y="2133600"/>
            <a:ext cx="3200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777872" y="2971800"/>
            <a:ext cx="194428" cy="4689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035800" y="2846896"/>
            <a:ext cx="3886200" cy="678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dirty="0"/>
              <a:t>前端技术栈：</a:t>
            </a:r>
            <a:r>
              <a:rPr lang="en-US" dirty="0"/>
              <a:t>HTML, CSS, </a:t>
            </a:r>
            <a:r>
              <a:rPr lang="zh-CN" altLang="en-US" dirty="0"/>
              <a:t>原生 </a:t>
            </a:r>
            <a:r>
              <a:rPr lang="en-US" dirty="0"/>
              <a:t>JavaScript。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807200" y="39370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59E0B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035800" y="3883843"/>
            <a:ext cx="3886200" cy="70085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dirty="0"/>
              <a:t>职责：负责页面展示、用户交互以及与后端 </a:t>
            </a:r>
            <a:r>
              <a:rPr lang="en-US" altLang="zh-CN" dirty="0"/>
              <a:t>API </a:t>
            </a:r>
            <a:r>
              <a:rPr lang="zh-CN" altLang="en-US" dirty="0"/>
              <a:t>的调用。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6807200" y="5080000"/>
            <a:ext cx="43815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自习室预约系统 · UI/UX 设计专项汇报 · 2026.05.13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830A3666-EF85-3FB9-D635-2EB271925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00" y="982462"/>
            <a:ext cx="5230549" cy="352326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17137AE4-58A1-2B09-10B6-C14441DE2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422" y="2213904"/>
            <a:ext cx="4926042" cy="366163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5CA1EA0-3C7C-CF7F-E708-FDBA154DC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02" y="2702545"/>
            <a:ext cx="4940330" cy="3653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800" dirty="0"/>
              <a:t>前期工作流程：架构与设计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1100" dirty="0"/>
              <a:t>后端开发 </a:t>
            </a:r>
            <a:r>
              <a:rPr lang="en-US" altLang="zh-CN" sz="1100" dirty="0"/>
              <a:t>- </a:t>
            </a:r>
            <a:r>
              <a:rPr lang="zh-CN" altLang="en-US" sz="1100" dirty="0"/>
              <a:t>付娆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74700" y="1511300"/>
            <a:ext cx="5080000" cy="452120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92200" y="1816100"/>
            <a:ext cx="762000" cy="762000"/>
          </a:xfrm>
          <a:prstGeom prst="ellipse">
            <a:avLst/>
          </a:prstGeom>
          <a:solidFill>
            <a:srgbClr val="3B82F6">
              <a:alpha val="100000"/>
            </a:srgbClr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92200" y="1905000"/>
            <a:ext cx="76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2070100" y="1777999"/>
            <a:ext cx="1828800" cy="62583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000" dirty="0"/>
              <a:t>软件架构</a:t>
            </a:r>
            <a:r>
              <a:rPr lang="en-US" altLang="zh-CN" sz="2000" dirty="0"/>
              <a:t>: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2070100" y="2133600"/>
            <a:ext cx="3200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282700" y="29718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11300" y="2984500"/>
            <a:ext cx="38862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dirty="0"/>
              <a:t>采用分层结构：</a:t>
            </a:r>
            <a:r>
              <a:rPr lang="en-US" altLang="zh-CN" dirty="0"/>
              <a:t>Controller </a:t>
            </a:r>
            <a:r>
              <a:rPr lang="zh-CN" altLang="en-US" dirty="0"/>
              <a:t>层处理 </a:t>
            </a:r>
            <a:r>
              <a:rPr lang="en-US" altLang="zh-CN" dirty="0"/>
              <a:t>API </a:t>
            </a:r>
            <a:r>
              <a:rPr lang="zh-CN" altLang="en-US" dirty="0"/>
              <a:t>请求，</a:t>
            </a:r>
            <a:r>
              <a:rPr lang="en-US" altLang="zh-CN" dirty="0"/>
              <a:t>Service </a:t>
            </a:r>
            <a:r>
              <a:rPr lang="zh-CN" altLang="en-US" dirty="0"/>
              <a:t>层封装业务逻辑，</a:t>
            </a:r>
            <a:r>
              <a:rPr lang="en-US" altLang="zh-CN" dirty="0"/>
              <a:t>DAO </a:t>
            </a:r>
            <a:r>
              <a:rPr lang="zh-CN" altLang="en-US" dirty="0"/>
              <a:t>层负责数据访问。 </a:t>
            </a:r>
            <a:r>
              <a:rPr lang="en-US" sz="1400" b="0" i="0" u="none" strike="noStrike" dirty="0">
                <a:solidFill>
                  <a:srgbClr val="334155"/>
                </a:solidFill>
                <a:latin typeface="等线"/>
                <a:ea typeface="等线"/>
                <a:cs typeface="等线"/>
                <a:sym typeface="等线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282700" y="38100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11300" y="3822700"/>
            <a:ext cx="38862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dirty="0"/>
              <a:t>技术选型：</a:t>
            </a:r>
            <a:r>
              <a:rPr lang="en-US" dirty="0"/>
              <a:t>Spring Boot, Spring MVC, </a:t>
            </a:r>
            <a:r>
              <a:rPr lang="en-US" dirty="0" err="1"/>
              <a:t>MyBatis</a:t>
            </a:r>
            <a:r>
              <a:rPr lang="en-US" dirty="0"/>
              <a:t>, </a:t>
            </a:r>
            <a:r>
              <a:rPr lang="en-US" dirty="0" err="1"/>
              <a:t>MySQL</a:t>
            </a:r>
            <a:r>
              <a:rPr lang="en-US" dirty="0"/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447800" y="4703975"/>
            <a:ext cx="3949700" cy="947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>
              <a:defRPr/>
            </a:pPr>
            <a:r>
              <a:rPr lang="zh-CN" altLang="en-US" dirty="0"/>
              <a:t>架构特点：通过 </a:t>
            </a:r>
            <a:r>
              <a:rPr lang="en-US" dirty="0"/>
              <a:t>REST API </a:t>
            </a:r>
            <a:r>
              <a:rPr lang="zh-CN" altLang="en-US" dirty="0"/>
              <a:t>与前端通信，使用 </a:t>
            </a:r>
            <a:r>
              <a:rPr lang="en-US" dirty="0"/>
              <a:t>Session </a:t>
            </a:r>
            <a:r>
              <a:rPr lang="zh-CN" altLang="en-US" dirty="0"/>
              <a:t>管理登录状态。</a:t>
            </a:r>
            <a:endParaRPr lang="en-US" dirty="0"/>
          </a:p>
        </p:txBody>
      </p:sp>
      <p:sp>
        <p:nvSpPr>
          <p:cNvPr id="15" name="AutoShape 15"/>
          <p:cNvSpPr/>
          <p:nvPr/>
        </p:nvSpPr>
        <p:spPr>
          <a:xfrm>
            <a:off x="6197600" y="1485900"/>
            <a:ext cx="5080000" cy="5258464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29400" y="1816100"/>
            <a:ext cx="762000" cy="762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12700" cap="flat" cmpd="sng">
            <a:solidFill>
              <a:srgbClr val="10B981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29400" y="1905000"/>
            <a:ext cx="76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607300" y="1777999"/>
            <a:ext cx="1828800" cy="60698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2000" dirty="0"/>
              <a:t>API </a:t>
            </a:r>
            <a:r>
              <a:rPr lang="zh-CN" altLang="en-US" sz="2000" dirty="0"/>
              <a:t>设计</a:t>
            </a:r>
            <a:r>
              <a:rPr lang="en-US" altLang="zh-CN" sz="2000" dirty="0"/>
              <a:t>: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807200" y="29718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035800" y="2290656"/>
            <a:ext cx="3886200" cy="120184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dirty="0"/>
              <a:t>实现统一 </a:t>
            </a:r>
            <a:r>
              <a:rPr lang="en-US" dirty="0"/>
              <a:t>API </a:t>
            </a:r>
            <a:r>
              <a:rPr lang="zh-CN" altLang="en-US" dirty="0"/>
              <a:t>前缀：</a:t>
            </a:r>
            <a:r>
              <a:rPr lang="en-US" altLang="zh-CN" dirty="0"/>
              <a:t>/</a:t>
            </a:r>
            <a:r>
              <a:rPr lang="en-US" dirty="0" err="1"/>
              <a:t>api</a:t>
            </a:r>
            <a:r>
              <a:rPr lang="en-US" dirty="0"/>
              <a:t>/auth, /</a:t>
            </a:r>
            <a:r>
              <a:rPr lang="en-US" dirty="0" err="1"/>
              <a:t>api</a:t>
            </a:r>
            <a:r>
              <a:rPr lang="en-US" dirty="0"/>
              <a:t>/user, /</a:t>
            </a:r>
            <a:r>
              <a:rPr lang="en-US" dirty="0" err="1"/>
              <a:t>api</a:t>
            </a:r>
            <a:r>
              <a:rPr lang="en-US" dirty="0"/>
              <a:t>/admin。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807200" y="38100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035800" y="2311400"/>
            <a:ext cx="3886200" cy="2019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dirty="0"/>
              <a:t>开发典型接口：登录、预约提交、取消、管理员管理等。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6972300" y="3455062"/>
            <a:ext cx="3949700" cy="219643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>
              <a:defRPr/>
            </a:pPr>
            <a:r>
              <a:rPr lang="zh-CN" altLang="en-US" dirty="0"/>
              <a:t>封装统一返回格式 </a:t>
            </a:r>
            <a:r>
              <a:rPr lang="en-US" dirty="0" err="1"/>
              <a:t>ApiResponse</a:t>
            </a:r>
            <a:r>
              <a:rPr lang="en-US" dirty="0"/>
              <a:t> (success/message/data)。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自习室预约系统 · 技术架构设计汇报 · 2026.05.13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3606A79-E298-778B-D605-D59FFD79D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878" y="3958302"/>
            <a:ext cx="4220122" cy="27860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499"/>
            <a:ext cx="7772400" cy="70059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400" dirty="0"/>
              <a:t>前后端开发实现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74700" y="1511300"/>
            <a:ext cx="5080000" cy="452120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73346" y="1664354"/>
            <a:ext cx="762000" cy="762000"/>
          </a:xfrm>
          <a:prstGeom prst="ellipse">
            <a:avLst/>
          </a:prstGeom>
          <a:solidFill>
            <a:srgbClr val="3B82F6">
              <a:alpha val="100000"/>
            </a:srgbClr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82774" y="1883135"/>
            <a:ext cx="76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061065" y="1838226"/>
            <a:ext cx="2540000" cy="33661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1800" dirty="0"/>
              <a:t>前端开发（郭静怡 负责）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961534" y="2432115"/>
            <a:ext cx="4873658" cy="3536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>
              <a:lnSpc>
                <a:spcPct val="133333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r>
              <a:rPr lang="zh-CN" altLang="en-US" sz="1600" dirty="0"/>
              <a:t>技术栈：</a:t>
            </a:r>
            <a:r>
              <a:rPr lang="en-US" sz="1600" dirty="0"/>
              <a:t>HTML / CSS / </a:t>
            </a:r>
            <a:r>
              <a:rPr lang="zh-CN" altLang="en-US" sz="1600" dirty="0"/>
              <a:t>原生 </a:t>
            </a:r>
            <a:r>
              <a:rPr lang="en-US" sz="1600" dirty="0"/>
              <a:t>JavaScript / Jest / Testing Library / </a:t>
            </a:r>
            <a:r>
              <a:rPr lang="en-US" sz="1600" dirty="0" err="1"/>
              <a:t>ESLint</a:t>
            </a:r>
            <a:r>
              <a:rPr lang="en-US" sz="1600" dirty="0"/>
              <a:t> </a:t>
            </a:r>
          </a:p>
          <a:p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r>
              <a:rPr lang="zh-CN" altLang="en-US" sz="1600" dirty="0"/>
              <a:t>核心实现： 封装 </a:t>
            </a:r>
            <a:r>
              <a:rPr lang="en-US" sz="1600" dirty="0" err="1"/>
              <a:t>createApiClient</a:t>
            </a:r>
            <a:r>
              <a:rPr lang="en-US" sz="1600" dirty="0"/>
              <a:t>() </a:t>
            </a:r>
            <a:r>
              <a:rPr lang="zh-CN" altLang="en-US" sz="1600" dirty="0"/>
              <a:t>统一管理请求，所有接口携带 </a:t>
            </a:r>
            <a:r>
              <a:rPr lang="en-US" sz="1600" dirty="0"/>
              <a:t>credentials: "include"，</a:t>
            </a:r>
            <a:r>
              <a:rPr lang="zh-CN" altLang="en-US" sz="1600" dirty="0"/>
              <a:t>支持 </a:t>
            </a:r>
            <a:r>
              <a:rPr lang="en-US" sz="1600" dirty="0"/>
              <a:t>Session </a:t>
            </a:r>
            <a:r>
              <a:rPr lang="zh-CN" altLang="en-US" sz="1600" dirty="0"/>
              <a:t>登录态</a:t>
            </a:r>
          </a:p>
          <a:p>
            <a:r>
              <a:rPr lang="zh-CN" altLang="en-US" sz="1600" dirty="0"/>
              <a:t>通过 </a:t>
            </a:r>
            <a:r>
              <a:rPr lang="en-US" sz="1600" dirty="0"/>
              <a:t>config.js </a:t>
            </a:r>
            <a:r>
              <a:rPr lang="zh-CN" altLang="en-US" sz="1600" dirty="0"/>
              <a:t>配置后端 </a:t>
            </a:r>
            <a:r>
              <a:rPr lang="en-US" sz="1600" dirty="0"/>
              <a:t>API </a:t>
            </a:r>
            <a:r>
              <a:rPr lang="zh-CN" altLang="en-US" sz="1600" dirty="0"/>
              <a:t>地址，支持本地与线上环境切换</a:t>
            </a:r>
          </a:p>
          <a:p>
            <a:r>
              <a:rPr lang="zh-CN" altLang="en-US" sz="1600" dirty="0"/>
              <a:t>使用 </a:t>
            </a:r>
            <a:r>
              <a:rPr lang="en-US" sz="1600" dirty="0" err="1"/>
              <a:t>textContent</a:t>
            </a:r>
            <a:r>
              <a:rPr lang="en-US" sz="1600" dirty="0"/>
              <a:t> </a:t>
            </a:r>
            <a:r>
              <a:rPr lang="zh-CN" altLang="en-US" sz="1600" dirty="0"/>
              <a:t>渲染数据，规避 </a:t>
            </a:r>
            <a:r>
              <a:rPr lang="en-US" sz="1600" dirty="0"/>
              <a:t>XSS </a:t>
            </a:r>
            <a:r>
              <a:rPr lang="zh-CN" altLang="en-US" sz="1600" dirty="0"/>
              <a:t>风险</a:t>
            </a:r>
          </a:p>
          <a:p>
            <a:r>
              <a:rPr lang="en-US" sz="16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r>
              <a:rPr lang="zh-CN" altLang="en-US" sz="1600" dirty="0"/>
              <a:t>测试保障： 编写 </a:t>
            </a:r>
            <a:r>
              <a:rPr lang="en-US" altLang="zh-CN" sz="1600" dirty="0" err="1"/>
              <a:t>api.mock.test.js</a:t>
            </a:r>
            <a:r>
              <a:rPr lang="en-US" altLang="zh-CN" sz="1600" dirty="0"/>
              <a:t> </a:t>
            </a:r>
            <a:r>
              <a:rPr lang="zh-CN" altLang="en-US" sz="1600" dirty="0"/>
              <a:t>验证接口调用逻辑</a:t>
            </a:r>
          </a:p>
          <a:p>
            <a:r>
              <a:rPr lang="zh-CN" altLang="en-US" sz="1600" dirty="0"/>
              <a:t>编写 </a:t>
            </a:r>
            <a:r>
              <a:rPr lang="en-US" altLang="zh-CN" sz="1600" dirty="0" err="1"/>
              <a:t>component.interaction.test.js</a:t>
            </a:r>
            <a:r>
              <a:rPr lang="en-US" altLang="zh-CN" sz="1600" dirty="0"/>
              <a:t> </a:t>
            </a:r>
            <a:r>
              <a:rPr lang="zh-CN" altLang="en-US" sz="1600" dirty="0"/>
              <a:t>验证页面交互</a:t>
            </a:r>
          </a:p>
          <a:p>
            <a:r>
              <a:rPr lang="zh-CN" altLang="en-US" sz="1600" dirty="0"/>
              <a:t>基于 </a:t>
            </a:r>
            <a:r>
              <a:rPr lang="en-US" altLang="zh-CN" sz="1600" dirty="0"/>
              <a:t>Jest + </a:t>
            </a:r>
            <a:r>
              <a:rPr lang="en-US" altLang="zh-CN" sz="1600" dirty="0" err="1"/>
              <a:t>jsdom</a:t>
            </a:r>
            <a:r>
              <a:rPr lang="en-US" altLang="zh-CN" sz="1600" dirty="0"/>
              <a:t> </a:t>
            </a:r>
            <a:r>
              <a:rPr lang="zh-CN" altLang="en-US" sz="1600" dirty="0"/>
              <a:t>模拟浏览器环境，实现自动化测试</a:t>
            </a:r>
          </a:p>
          <a:p>
            <a:pPr marL="0" indent="0" algn="l">
              <a:lnSpc>
                <a:spcPct val="133333"/>
              </a:lnSpc>
            </a:pPr>
            <a:endParaRPr lang="en-US" sz="1500" b="0" i="0" u="none" strike="noStrike" dirty="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97600" y="1485900"/>
            <a:ext cx="5080000" cy="452120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850668" y="1796330"/>
            <a:ext cx="762000" cy="762000"/>
          </a:xfrm>
          <a:prstGeom prst="ellipse">
            <a:avLst/>
          </a:prstGeom>
          <a:solidFill>
            <a:srgbClr val="8B5CF6">
              <a:alpha val="100000"/>
            </a:srgbClr>
          </a:solidFill>
          <a:ln w="12700" cap="flat" cmpd="sng">
            <a:solidFill>
              <a:srgbClr val="8B5CF6">
                <a:alpha val="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756400" y="2222500"/>
            <a:ext cx="76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772400" y="1875935"/>
            <a:ext cx="2540000" cy="6005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1800" dirty="0"/>
              <a:t>后端开发（付娆 负责）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858000" y="2667786"/>
            <a:ext cx="4318000" cy="33012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>
              <a:lnSpc>
                <a:spcPct val="133333"/>
              </a:lnSpc>
              <a:defRPr/>
            </a:pPr>
            <a:r>
              <a:rPr lang="en-US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r>
              <a:rPr lang="zh-CN" altLang="en-US" dirty="0"/>
              <a:t>技术栈：</a:t>
            </a:r>
            <a:r>
              <a:rPr lang="en-US" dirty="0"/>
              <a:t>Java 11 / Spring Boot 2.2.10 / Spring MVC / </a:t>
            </a:r>
            <a:r>
              <a:rPr lang="en-US" dirty="0" err="1"/>
              <a:t>MyBatis</a:t>
            </a:r>
            <a:r>
              <a:rPr lang="en-US" dirty="0"/>
              <a:t> / </a:t>
            </a:r>
            <a:r>
              <a:rPr lang="en-US" dirty="0" err="1"/>
              <a:t>MySQL</a:t>
            </a:r>
            <a:r>
              <a:rPr lang="en-US" dirty="0"/>
              <a:t> / Lombok / Maven </a:t>
            </a:r>
          </a:p>
          <a:p>
            <a:r>
              <a:rPr lang="en-US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r>
              <a:rPr lang="zh-CN" altLang="en-US" dirty="0"/>
              <a:t>分层结构： </a:t>
            </a:r>
            <a:r>
              <a:rPr lang="en-US" altLang="zh-CN" dirty="0"/>
              <a:t>control/</a:t>
            </a:r>
            <a:r>
              <a:rPr lang="en-US" altLang="zh-CN" dirty="0" err="1"/>
              <a:t>api</a:t>
            </a:r>
            <a:r>
              <a:rPr lang="zh-CN" altLang="en-US" dirty="0"/>
              <a:t>：</a:t>
            </a:r>
            <a:r>
              <a:rPr lang="en-US" altLang="zh-CN" dirty="0"/>
              <a:t>REST API </a:t>
            </a:r>
            <a:r>
              <a:rPr lang="zh-CN" altLang="en-US" dirty="0"/>
              <a:t>控制器，处理请求与响应</a:t>
            </a:r>
          </a:p>
          <a:p>
            <a:r>
              <a:rPr lang="en-US" altLang="zh-CN" dirty="0"/>
              <a:t>service/</a:t>
            </a:r>
            <a:r>
              <a:rPr lang="en-US" altLang="zh-CN" dirty="0" err="1"/>
              <a:t>Impl</a:t>
            </a:r>
            <a:r>
              <a:rPr lang="zh-CN" altLang="en-US" dirty="0"/>
              <a:t>：封装预约、学生、教室、黑名单等核心业务逻辑</a:t>
            </a:r>
          </a:p>
          <a:p>
            <a:r>
              <a:rPr lang="en-US" altLang="zh-CN" dirty="0" err="1"/>
              <a:t>dao</a:t>
            </a:r>
            <a:r>
              <a:rPr lang="en-US" altLang="zh-CN" dirty="0"/>
              <a:t> + </a:t>
            </a:r>
            <a:r>
              <a:rPr lang="en-US" altLang="zh-CN" dirty="0" err="1"/>
              <a:t>mybatis</a:t>
            </a:r>
            <a:r>
              <a:rPr lang="en-US" altLang="zh-CN" dirty="0"/>
              <a:t>/</a:t>
            </a:r>
            <a:r>
              <a:rPr lang="en-US" altLang="zh-CN" dirty="0" err="1"/>
              <a:t>mapper</a:t>
            </a:r>
            <a:r>
              <a:rPr lang="zh-CN" altLang="en-US" dirty="0"/>
              <a:t>：实现数据访问与 </a:t>
            </a:r>
            <a:r>
              <a:rPr lang="en-US" altLang="zh-CN" dirty="0"/>
              <a:t>SQL </a:t>
            </a:r>
            <a:r>
              <a:rPr lang="zh-CN" altLang="en-US" dirty="0"/>
              <a:t>映射</a:t>
            </a:r>
          </a:p>
          <a:p>
            <a:r>
              <a:rPr lang="en-US" altLang="zh-CN" dirty="0" err="1"/>
              <a:t>pojo</a:t>
            </a:r>
            <a:r>
              <a:rPr lang="zh-CN" altLang="en-US" dirty="0"/>
              <a:t>：定义学生、教室、预约、黑名单等实体对象</a:t>
            </a:r>
          </a:p>
          <a:p>
            <a:pPr>
              <a:lnSpc>
                <a:spcPct val="133333"/>
              </a:lnSpc>
            </a:pPr>
            <a:r>
              <a:rPr lang="en-US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r>
              <a:rPr lang="zh-CN" altLang="en-US" dirty="0"/>
              <a:t>登录成功写入 </a:t>
            </a:r>
            <a:r>
              <a:rPr lang="en-US" altLang="zh-CN" dirty="0"/>
              <a:t>Session</a:t>
            </a:r>
            <a:r>
              <a:rPr lang="zh-CN" altLang="en-US" dirty="0"/>
              <a:t>，实现会话管理 学生仅可操作本人预约，管理员拥有全量管理权限 黑名单用户禁止预约，一周内取消预约超 </a:t>
            </a:r>
            <a:r>
              <a:rPr lang="en-US" altLang="zh-CN" dirty="0"/>
              <a:t>3 </a:t>
            </a:r>
            <a:r>
              <a:rPr lang="zh-CN" altLang="en-US" dirty="0"/>
              <a:t>次将限制预约权限</a:t>
            </a:r>
            <a:endParaRPr lang="en-US" b="0" i="0" u="none" strike="noStrike" dirty="0">
              <a:solidFill>
                <a:srgbClr val="37415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DevOps 实践汇报 · CI/CD 安全体系建设 · 2026.05.13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软件测试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74700" y="1511300"/>
            <a:ext cx="5080000" cy="452120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35639" y="1579513"/>
            <a:ext cx="762000" cy="762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2563EB">
                <a:alpha val="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92199" y="1781667"/>
            <a:ext cx="689467" cy="3110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后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108200" y="1696825"/>
            <a:ext cx="3556000" cy="52790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后端测试</a:t>
            </a:r>
            <a:r>
              <a:rPr lang="en-US" sz="1800" b="1" i="0" u="none" strike="noStrik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- </a:t>
            </a:r>
            <a:r>
              <a:rPr lang="en-US" sz="1800" b="1" i="0" u="none" strike="noStrik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付娆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282699" y="2460396"/>
            <a:ext cx="282149" cy="33936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587500" y="2366128"/>
            <a:ext cx="3937000" cy="80127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使用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Spring Boot Test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进行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Controller 和 Service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测试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310326" y="3073138"/>
            <a:ext cx="245096" cy="31108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587500" y="3016577"/>
            <a:ext cx="3937000" cy="42420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使用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JaCoCo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生成测试覆盖率报告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219200" y="5618374"/>
            <a:ext cx="4191000" cy="541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测试重点：登录、预约、黑名单、管理员权限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188172" y="1344498"/>
            <a:ext cx="5585905" cy="517885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516279" y="1602558"/>
            <a:ext cx="762000" cy="791852"/>
          </a:xfrm>
          <a:prstGeom prst="ellipse">
            <a:avLst/>
          </a:prstGeom>
          <a:solidFill>
            <a:srgbClr val="10B981">
              <a:alpha val="100000"/>
            </a:srgbClr>
          </a:solidFill>
          <a:ln w="12700" cap="flat" cmpd="sng">
            <a:solidFill>
              <a:srgbClr val="10B981">
                <a:alpha val="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b="1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前</a:t>
            </a:r>
            <a:endParaRPr lang="en-US" sz="900" dirty="0"/>
          </a:p>
          <a:p>
            <a:pPr algn="ctr">
              <a:defRPr/>
            </a:pPr>
            <a:endParaRPr dirty="0"/>
          </a:p>
        </p:txBody>
      </p:sp>
      <p:sp>
        <p:nvSpPr>
          <p:cNvPr id="15" name="AutoShape 15"/>
          <p:cNvSpPr/>
          <p:nvPr/>
        </p:nvSpPr>
        <p:spPr>
          <a:xfrm>
            <a:off x="6629400" y="1602557"/>
            <a:ext cx="762000" cy="9755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371761" y="1649691"/>
            <a:ext cx="3829639" cy="50904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前端测试</a:t>
            </a:r>
            <a:r>
              <a:rPr lang="en-US" sz="1800" b="1" i="0" u="none" strike="noStrik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 - </a:t>
            </a:r>
            <a:r>
              <a:rPr lang="en-US" sz="1800" b="1" i="0" u="none" strike="noStrik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郭静怡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7154945" y="2366128"/>
            <a:ext cx="226244" cy="36764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334054" y="2187018"/>
            <a:ext cx="3714946" cy="66930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使用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Jest +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jsdom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测试接口调用和页面交互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164370" y="2790335"/>
            <a:ext cx="179109" cy="2922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10B98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7305772" y="2696066"/>
            <a:ext cx="3743227" cy="43363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使用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 Jest coverage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生成覆盖率报告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6881566" y="6089715"/>
            <a:ext cx="3938833" cy="6978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测试重点：API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调用、组件交互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"/>
                <a:ea typeface="Noto Sans"/>
                <a:cs typeface="Noto Sans"/>
                <a:sym typeface="Noto Sans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系统稳定性建设方案 · 监控体系模块汇报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9479" y="3082565"/>
            <a:ext cx="5556056" cy="2824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0122" y="3463467"/>
            <a:ext cx="4671375" cy="1956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2800" dirty="0"/>
              <a:t>CI/CD </a:t>
            </a:r>
            <a:r>
              <a:rPr lang="zh-CN" altLang="en-US" sz="2800" dirty="0"/>
              <a:t>与软件开发安全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基于 GitHub Actions 实现持续集成、交付与安全扫描闭环，保障开发流程高效可控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424206" y="1511300"/>
            <a:ext cx="5430494" cy="452120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en-US" dirty="0"/>
              <a:t>=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92200" y="1816100"/>
            <a:ext cx="762000" cy="762000"/>
          </a:xfrm>
          <a:prstGeom prst="ellipse">
            <a:avLst/>
          </a:prstGeom>
          <a:solidFill>
            <a:srgbClr val="6C63FF">
              <a:alpha val="100000"/>
            </a:srgbClr>
          </a:solidFill>
          <a:ln w="12700" cap="flat" cmpd="sng">
            <a:solidFill>
              <a:srgbClr val="6C63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92200" y="1905000"/>
            <a:ext cx="76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2070099" y="1778000"/>
            <a:ext cx="3076935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2000" dirty="0"/>
              <a:t>CI/CD </a:t>
            </a:r>
            <a:r>
              <a:rPr lang="zh-CN" altLang="en-US" sz="2000" dirty="0"/>
              <a:t>自动化流程 </a:t>
            </a:r>
            <a:r>
              <a:rPr lang="en-US" altLang="zh-CN" sz="2000" dirty="0"/>
              <a:t>(</a:t>
            </a:r>
            <a:r>
              <a:rPr lang="zh-CN" altLang="en-US" sz="2000" dirty="0"/>
              <a:t>郭静怡</a:t>
            </a:r>
            <a:r>
              <a:rPr lang="en-US" altLang="zh-CN" sz="2000" dirty="0"/>
              <a:t>)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2070100" y="2133600"/>
            <a:ext cx="3200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CI/CD 流程架构与自动化实施负责人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82700" y="29718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6C63F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11300" y="2516957"/>
            <a:ext cx="3886200" cy="10390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dirty="0"/>
              <a:t>CI </a:t>
            </a:r>
            <a:r>
              <a:rPr lang="zh-CN" altLang="en-US" dirty="0"/>
              <a:t>工具</a:t>
            </a:r>
            <a:r>
              <a:rPr lang="en-US" altLang="zh-CN" dirty="0"/>
              <a:t>: </a:t>
            </a:r>
            <a:r>
              <a:rPr lang="en-US" dirty="0" err="1"/>
              <a:t>GitHub</a:t>
            </a:r>
            <a:r>
              <a:rPr lang="en-US" dirty="0"/>
              <a:t> Actions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282045" y="3308808"/>
            <a:ext cx="165755" cy="34879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6C63F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445312" y="3176833"/>
            <a:ext cx="3918539" cy="81070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altLang="zh-CN" dirty="0"/>
              <a:t>ci.yml: </a:t>
            </a:r>
            <a:r>
              <a:rPr lang="zh-CN" altLang="en-US" dirty="0"/>
              <a:t>自动化执行代码拉取、依赖安装、</a:t>
            </a:r>
            <a:r>
              <a:rPr lang="en-US" altLang="zh-CN" dirty="0" err="1"/>
              <a:t>ESLint</a:t>
            </a:r>
            <a:r>
              <a:rPr lang="en-US" altLang="zh-CN" dirty="0"/>
              <a:t> </a:t>
            </a:r>
            <a:r>
              <a:rPr lang="zh-CN" altLang="en-US" dirty="0"/>
              <a:t>代码检查、</a:t>
            </a:r>
            <a:r>
              <a:rPr lang="en-US" altLang="zh-CN" dirty="0"/>
              <a:t>Jest </a:t>
            </a:r>
            <a:r>
              <a:rPr lang="zh-CN" altLang="en-US" dirty="0"/>
              <a:t>测试及覆盖率上传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329179" y="3808429"/>
            <a:ext cx="4011760" cy="197007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>
              <a:defRPr/>
            </a:pPr>
            <a:r>
              <a:rPr lang="en-US" dirty="0"/>
              <a:t>docker.yml: </a:t>
            </a:r>
            <a:r>
              <a:rPr lang="zh-CN" altLang="en-US" dirty="0"/>
              <a:t>自动构建并推送前端 </a:t>
            </a:r>
            <a:r>
              <a:rPr lang="en-US" altLang="zh-CN" dirty="0"/>
              <a:t>/ </a:t>
            </a:r>
            <a:r>
              <a:rPr lang="zh-CN" altLang="en-US" dirty="0"/>
              <a:t>后端 </a:t>
            </a:r>
            <a:r>
              <a:rPr lang="en-US" dirty="0" err="1"/>
              <a:t>Docker</a:t>
            </a:r>
            <a:r>
              <a:rPr lang="en-US" dirty="0"/>
              <a:t> </a:t>
            </a:r>
            <a:r>
              <a:rPr lang="zh-CN" altLang="en-US" dirty="0"/>
              <a:t>镜像至 </a:t>
            </a:r>
            <a:r>
              <a:rPr lang="en-US" dirty="0"/>
              <a:t>GHCR，</a:t>
            </a:r>
            <a:r>
              <a:rPr lang="zh-CN" altLang="en-US" dirty="0"/>
              <a:t>并使用 </a:t>
            </a:r>
            <a:r>
              <a:rPr lang="en-US" dirty="0" err="1"/>
              <a:t>Trivy</a:t>
            </a:r>
            <a:r>
              <a:rPr lang="en-US" dirty="0"/>
              <a:t> </a:t>
            </a:r>
            <a:r>
              <a:rPr lang="zh-CN" altLang="en-US" dirty="0"/>
              <a:t>进行镜像漏洞扫描。 </a:t>
            </a:r>
            <a:endParaRPr lang="en-US" altLang="zh-CN" dirty="0">
              <a:latin typeface="等线"/>
              <a:ea typeface="等线"/>
              <a:sym typeface="等线"/>
            </a:endParaRPr>
          </a:p>
          <a:p>
            <a:pPr>
              <a:defRPr/>
            </a:pPr>
            <a:endParaRPr lang="en-US" sz="14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>
              <a:defRPr/>
            </a:pPr>
            <a:r>
              <a:rPr lang="en-US" dirty="0"/>
              <a:t>security.yml: </a:t>
            </a:r>
            <a:r>
              <a:rPr lang="zh-CN" altLang="en-US" dirty="0"/>
              <a:t>使用 </a:t>
            </a:r>
            <a:r>
              <a:rPr lang="en-US" dirty="0" err="1"/>
              <a:t>Gitleaks</a:t>
            </a:r>
            <a:r>
              <a:rPr lang="en-US" dirty="0"/>
              <a:t> </a:t>
            </a:r>
            <a:r>
              <a:rPr lang="zh-CN" altLang="en-US" dirty="0"/>
              <a:t>自动扫描代码库中的密钥泄露风险。</a:t>
            </a:r>
            <a:endParaRPr lang="en-US" sz="14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>
              <a:defRPr/>
            </a:pP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5910605" y="1485900"/>
            <a:ext cx="6108569" cy="4521200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29400" y="1816100"/>
            <a:ext cx="762000" cy="762000"/>
          </a:xfrm>
          <a:prstGeom prst="ellipse">
            <a:avLst/>
          </a:prstGeom>
          <a:solidFill>
            <a:srgbClr val="F72565">
              <a:alpha val="100000"/>
            </a:srgbClr>
          </a:solidFill>
          <a:ln w="12700" cap="flat" cmpd="sng">
            <a:solidFill>
              <a:srgbClr val="F72565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29400" y="1905000"/>
            <a:ext cx="76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607300" y="1778000"/>
            <a:ext cx="2290844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000" dirty="0"/>
              <a:t>软件开发安全实践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607300" y="2133600"/>
            <a:ext cx="3200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容器化构建发布与全链路安全风控模块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07200" y="29718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72565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035800" y="2984500"/>
            <a:ext cx="38862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dirty="0"/>
              <a:t>后端</a:t>
            </a:r>
            <a:r>
              <a:rPr lang="en-US" altLang="zh-CN" dirty="0"/>
              <a:t>: </a:t>
            </a:r>
            <a:r>
              <a:rPr lang="en-US" dirty="0"/>
              <a:t>Session </a:t>
            </a:r>
            <a:r>
              <a:rPr lang="zh-CN" altLang="en-US" dirty="0"/>
              <a:t>登录态管理、防 </a:t>
            </a:r>
            <a:r>
              <a:rPr lang="en-US" dirty="0"/>
              <a:t>Session </a:t>
            </a:r>
            <a:r>
              <a:rPr lang="zh-CN" altLang="en-US" dirty="0"/>
              <a:t>固定攻击、密码哈希校验、</a:t>
            </a:r>
            <a:r>
              <a:rPr lang="en-US" dirty="0" err="1"/>
              <a:t>MyBatis</a:t>
            </a:r>
            <a:r>
              <a:rPr lang="en-US" dirty="0"/>
              <a:t> </a:t>
            </a:r>
            <a:r>
              <a:rPr lang="zh-CN" altLang="en-US" dirty="0"/>
              <a:t>参数绑定防 </a:t>
            </a:r>
            <a:r>
              <a:rPr lang="en-US" dirty="0"/>
              <a:t>SQL </a:t>
            </a:r>
            <a:r>
              <a:rPr lang="zh-CN" altLang="en-US" dirty="0"/>
              <a:t>注入、</a:t>
            </a:r>
            <a:r>
              <a:rPr lang="en-US" dirty="0"/>
              <a:t>CORS </a:t>
            </a:r>
            <a:r>
              <a:rPr lang="zh-CN" altLang="en-US" dirty="0"/>
              <a:t>跨域限制。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807200" y="38100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72565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035800" y="3657601"/>
            <a:ext cx="3886200" cy="736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dirty="0"/>
              <a:t>前端</a:t>
            </a:r>
            <a:r>
              <a:rPr lang="en-US" altLang="zh-CN" dirty="0"/>
              <a:t>: </a:t>
            </a:r>
            <a:r>
              <a:rPr lang="zh-CN" altLang="en-US" dirty="0"/>
              <a:t>避免使用 </a:t>
            </a:r>
            <a:r>
              <a:rPr lang="en-US" dirty="0" err="1"/>
              <a:t>innerHTML、Docker</a:t>
            </a:r>
            <a:r>
              <a:rPr lang="en-US" dirty="0"/>
              <a:t> </a:t>
            </a:r>
            <a:r>
              <a:rPr lang="zh-CN" altLang="en-US" dirty="0"/>
              <a:t>镜像漏洞扫描、</a:t>
            </a:r>
            <a:r>
              <a:rPr lang="en-US" dirty="0" err="1"/>
              <a:t>Gitleaks</a:t>
            </a:r>
            <a:r>
              <a:rPr lang="en-US" dirty="0"/>
              <a:t> </a:t>
            </a:r>
            <a:r>
              <a:rPr lang="zh-CN" altLang="en-US" dirty="0"/>
              <a:t>密钥扫描。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6972300" y="4953000"/>
            <a:ext cx="39497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自习室预约系统 · CI/CD 自动化建设汇报 · 2026.05.13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0255" y="4355183"/>
            <a:ext cx="6120343" cy="2007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2A5C41A-A922-AC9A-4329-462BDFB43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71" y="5089588"/>
            <a:ext cx="5549855" cy="5650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800" b="1" dirty="0"/>
              <a:t>部署、云服务与系统监控</a:t>
            </a:r>
            <a:endParaRPr lang="en-US" sz="2800" b="1" dirty="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前后端安全核心策略实施与关键防护成果汇报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10750" y="1115373"/>
            <a:ext cx="5080000" cy="5549378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65957" y="1127943"/>
            <a:ext cx="604625" cy="540601"/>
          </a:xfrm>
          <a:prstGeom prst="ellipse">
            <a:avLst/>
          </a:prstGeom>
          <a:solidFill>
            <a:srgbClr val="6C63FF">
              <a:alpha val="100000"/>
            </a:srgbClr>
          </a:solidFill>
          <a:ln w="12700" cap="flat" cmpd="sng">
            <a:solidFill>
              <a:srgbClr val="6C63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92200" y="1905000"/>
            <a:ext cx="762000" cy="44227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498862" y="1131216"/>
            <a:ext cx="2400038" cy="5279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000" dirty="0"/>
              <a:t>部署与云服务 </a:t>
            </a:r>
            <a:endParaRPr lang="en-US" sz="2000" dirty="0"/>
          </a:p>
        </p:txBody>
      </p:sp>
      <p:sp>
        <p:nvSpPr>
          <p:cNvPr id="9" name="AutoShape 9"/>
          <p:cNvSpPr/>
          <p:nvPr/>
        </p:nvSpPr>
        <p:spPr>
          <a:xfrm>
            <a:off x="2268062" y="2114746"/>
            <a:ext cx="3200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1282700" y="29718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511300" y="1611985"/>
            <a:ext cx="3886200" cy="7918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b="1" dirty="0"/>
              <a:t>本地部署</a:t>
            </a:r>
            <a:r>
              <a:rPr lang="en-US" altLang="zh-CN" b="1" dirty="0"/>
              <a:t>:</a:t>
            </a:r>
          </a:p>
          <a:p>
            <a:pPr>
              <a:defRPr/>
            </a:pPr>
            <a:r>
              <a:rPr lang="zh-CN" altLang="en-US" dirty="0"/>
              <a:t>使用 </a:t>
            </a:r>
            <a:r>
              <a:rPr lang="en-US" altLang="zh-CN" dirty="0" err="1"/>
              <a:t>compose.yaml</a:t>
            </a:r>
            <a:r>
              <a:rPr lang="en-US" altLang="zh-CN" dirty="0"/>
              <a:t> </a:t>
            </a:r>
            <a:r>
              <a:rPr lang="zh-CN" altLang="en-US" dirty="0"/>
              <a:t>一键启动前端 </a:t>
            </a:r>
            <a:r>
              <a:rPr lang="en-US" altLang="zh-CN" dirty="0"/>
              <a:t>(5173)</a:t>
            </a:r>
            <a:r>
              <a:rPr lang="zh-CN" altLang="en-US" dirty="0"/>
              <a:t>、后端 </a:t>
            </a:r>
            <a:r>
              <a:rPr lang="en-US" altLang="zh-CN" dirty="0"/>
              <a:t>(9099)</a:t>
            </a:r>
            <a:r>
              <a:rPr lang="zh-CN" altLang="en-US" dirty="0"/>
              <a:t>、</a:t>
            </a:r>
            <a:r>
              <a:rPr lang="en-US" altLang="zh-CN" dirty="0" err="1"/>
              <a:t>MySQL</a:t>
            </a:r>
            <a:r>
              <a:rPr lang="en-US" altLang="zh-CN" dirty="0"/>
              <a:t> (3307) </a:t>
            </a:r>
            <a:r>
              <a:rPr lang="zh-CN" altLang="en-US" dirty="0"/>
              <a:t>服务。</a:t>
            </a:r>
            <a:endParaRPr lang="en-US" altLang="zh-CN" dirty="0"/>
          </a:p>
          <a:p>
            <a:pPr>
              <a:defRPr/>
            </a:pP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282700" y="35179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511300" y="2262434"/>
            <a:ext cx="3886200" cy="3770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dirty="0"/>
              <a:t>通过环境变量配置数据库连接等敏感信息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282700" y="40640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511300" y="2601798"/>
            <a:ext cx="3886200" cy="92382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b="1" dirty="0"/>
              <a:t>云服务部署</a:t>
            </a:r>
            <a:r>
              <a:rPr lang="en-US" altLang="zh-CN" dirty="0"/>
              <a:t>: </a:t>
            </a:r>
          </a:p>
          <a:p>
            <a:r>
              <a:rPr lang="zh-CN" altLang="en-US" b="1" dirty="0"/>
              <a:t>平台</a:t>
            </a:r>
            <a:r>
              <a:rPr lang="en-US" altLang="zh-CN" dirty="0"/>
              <a:t>: </a:t>
            </a:r>
            <a:r>
              <a:rPr lang="en-US" dirty="0"/>
              <a:t>Railway</a:t>
            </a:r>
          </a:p>
          <a:p>
            <a:r>
              <a:rPr lang="zh-CN" altLang="en-US" b="1" dirty="0"/>
              <a:t>方式</a:t>
            </a:r>
            <a:r>
              <a:rPr lang="en-US" altLang="zh-CN" dirty="0"/>
              <a:t>: </a:t>
            </a:r>
            <a:r>
              <a:rPr lang="zh-CN" altLang="en-US" dirty="0"/>
              <a:t>连接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zh-CN" altLang="en-US" dirty="0"/>
              <a:t>仓库，</a:t>
            </a:r>
            <a:r>
              <a:rPr lang="en-US" dirty="0"/>
              <a:t>main</a:t>
            </a:r>
            <a:r>
              <a:rPr lang="zh-CN" altLang="en-US" dirty="0"/>
              <a:t>分支推送触发自动部署。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197600" y="320511"/>
            <a:ext cx="5080000" cy="6315959"/>
          </a:xfrm>
          <a:prstGeom prst="roundRect">
            <a:avLst>
              <a:gd name="adj" fmla="val 16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69622" y="3880569"/>
            <a:ext cx="497265" cy="502895"/>
          </a:xfrm>
          <a:prstGeom prst="ellipse">
            <a:avLst/>
          </a:prstGeom>
          <a:solidFill>
            <a:srgbClr val="F72565">
              <a:alpha val="100000"/>
            </a:srgbClr>
          </a:solidFill>
          <a:ln w="12700" cap="flat" cmpd="sng">
            <a:solidFill>
              <a:srgbClr val="F72565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29400" y="1905000"/>
            <a:ext cx="76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1489304" y="3946165"/>
            <a:ext cx="18288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000" dirty="0"/>
              <a:t>系统监控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7607300" y="2133600"/>
            <a:ext cx="3200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6807200" y="29718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1539973" y="4351386"/>
            <a:ext cx="38862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b="1" dirty="0"/>
              <a:t>健康检查</a:t>
            </a:r>
            <a:r>
              <a:rPr lang="en-US" altLang="zh-CN" dirty="0"/>
              <a:t>: </a:t>
            </a:r>
            <a:r>
              <a:rPr lang="zh-CN" altLang="en-US" dirty="0"/>
              <a:t>提供 </a:t>
            </a:r>
            <a:r>
              <a:rPr lang="en-US" dirty="0"/>
              <a:t>GET /health </a:t>
            </a:r>
            <a:r>
              <a:rPr lang="zh-CN" altLang="en-US" dirty="0"/>
              <a:t>接口，返回服务状态、时间戳、版本等信息。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6807200" y="35179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1521119" y="4774938"/>
            <a:ext cx="38862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b="1" dirty="0"/>
              <a:t>指标监控</a:t>
            </a:r>
            <a:r>
              <a:rPr lang="en-US" altLang="zh-CN" dirty="0"/>
              <a:t>: </a:t>
            </a:r>
            <a:r>
              <a:rPr lang="zh-CN" altLang="en-US" dirty="0"/>
              <a:t>提供 </a:t>
            </a:r>
            <a:r>
              <a:rPr lang="en-US" altLang="zh-CN" dirty="0"/>
              <a:t>GET /metrics </a:t>
            </a:r>
            <a:r>
              <a:rPr lang="zh-CN" altLang="en-US" dirty="0"/>
              <a:t>接口，统计请求总数、错误率、响应时间等核心指标。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6807200" y="4064000"/>
            <a:ext cx="1651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1539975" y="5273904"/>
            <a:ext cx="38862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b="1" dirty="0"/>
              <a:t>日志系统</a:t>
            </a:r>
            <a:r>
              <a:rPr lang="en-US" altLang="zh-CN" dirty="0"/>
              <a:t>: </a:t>
            </a:r>
            <a:r>
              <a:rPr lang="zh-CN" altLang="en-US" dirty="0"/>
              <a:t>使用 </a:t>
            </a:r>
            <a:r>
              <a:rPr lang="en-US" altLang="zh-CN" dirty="0" err="1"/>
              <a:t>Logback</a:t>
            </a:r>
            <a:r>
              <a:rPr lang="en-US" altLang="zh-CN" dirty="0"/>
              <a:t> </a:t>
            </a:r>
            <a:r>
              <a:rPr lang="zh-CN" altLang="en-US" dirty="0"/>
              <a:t>输出 </a:t>
            </a:r>
            <a:r>
              <a:rPr lang="en-US" altLang="zh-CN" dirty="0"/>
              <a:t>JSON </a:t>
            </a:r>
            <a:r>
              <a:rPr lang="zh-CN" altLang="en-US" dirty="0"/>
              <a:t>格式日志，便于分析和问题定位。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软件开发安全专项汇报 · 2026.05.13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447800" y="3450210"/>
            <a:ext cx="3949700" cy="15789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>
              <a:defRPr/>
            </a:pPr>
            <a:r>
              <a:rPr lang="zh-CN" altLang="en-US" b="1" dirty="0"/>
              <a:t>服务</a:t>
            </a:r>
            <a:r>
              <a:rPr lang="en-US" altLang="zh-CN" dirty="0"/>
              <a:t>: </a:t>
            </a:r>
            <a:r>
              <a:rPr lang="zh-CN" altLang="en-US" dirty="0"/>
              <a:t>前端静态服务、后端 </a:t>
            </a:r>
            <a:r>
              <a:rPr lang="en-US" altLang="zh-CN" dirty="0"/>
              <a:t>API </a:t>
            </a:r>
            <a:r>
              <a:rPr lang="zh-CN" altLang="en-US" dirty="0"/>
              <a:t>服务、云 </a:t>
            </a:r>
            <a:r>
              <a:rPr lang="en-US" altLang="zh-CN" dirty="0" err="1"/>
              <a:t>MySQL</a:t>
            </a:r>
            <a:r>
              <a:rPr lang="en-US" altLang="zh-CN" dirty="0"/>
              <a:t> </a:t>
            </a:r>
            <a:r>
              <a:rPr lang="zh-CN" altLang="en-US" dirty="0"/>
              <a:t>数据库。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6972300" y="4508500"/>
            <a:ext cx="3949700" cy="520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65739" y="3423649"/>
            <a:ext cx="4543721" cy="3042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52518" y="490193"/>
            <a:ext cx="5246124" cy="283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33157" y="360245"/>
            <a:ext cx="5311774" cy="30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5" name="TextBox 34"/>
          <p:cNvSpPr txBox="1"/>
          <p:nvPr/>
        </p:nvSpPr>
        <p:spPr>
          <a:xfrm>
            <a:off x="7909089" y="2658359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云平台配置页面截图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0553" y="286574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应用在线访问截图</a:t>
            </a:r>
          </a:p>
        </p:txBody>
      </p:sp>
      <p:pic>
        <p:nvPicPr>
          <p:cNvPr id="2055" name="图片 2054">
            <a:extLst>
              <a:ext uri="{FF2B5EF4-FFF2-40B4-BE49-F238E27FC236}">
                <a16:creationId xmlns:a16="http://schemas.microsoft.com/office/drawing/2014/main" id="{45C4B9FE-26DD-1276-7F39-9D13DF8D70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2518" y="1410533"/>
            <a:ext cx="5950665" cy="783392"/>
          </a:xfrm>
          <a:prstGeom prst="rect">
            <a:avLst/>
          </a:prstGeom>
        </p:spPr>
      </p:pic>
      <p:sp>
        <p:nvSpPr>
          <p:cNvPr id="2056" name="文本框 2055">
            <a:extLst>
              <a:ext uri="{FF2B5EF4-FFF2-40B4-BE49-F238E27FC236}">
                <a16:creationId xmlns:a16="http://schemas.microsoft.com/office/drawing/2014/main" id="{86AEA198-57B6-93B2-F1B4-A6E68EDCF1FA}"/>
              </a:ext>
            </a:extLst>
          </p:cNvPr>
          <p:cNvSpPr txBox="1"/>
          <p:nvPr/>
        </p:nvSpPr>
        <p:spPr>
          <a:xfrm>
            <a:off x="7457243" y="2565702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Docker compose </a:t>
            </a:r>
            <a:r>
              <a:rPr lang="en-US" altLang="zh-CN" dirty="0" err="1"/>
              <a:t>ps</a:t>
            </a:r>
            <a:r>
              <a:rPr lang="zh-CN" altLang="en-US" dirty="0"/>
              <a:t>截图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F5597">
              <a:alpha val="100000"/>
            </a:srgbClr>
          </a:solidFill>
          <a:ln w="12700" cap="flat" cmpd="sng">
            <a:solidFill>
              <a:srgbClr val="111827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25500" y="1231900"/>
            <a:ext cx="4749800" cy="711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系统演示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63600" y="1981200"/>
            <a:ext cx="49403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SYSTEM DEMONSTRATION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863600" y="2590800"/>
            <a:ext cx="238763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sq" cmpd="sng">
            <a:solidFill>
              <a:srgbClr val="6C63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489700" y="1231900"/>
            <a:ext cx="4521200" cy="3340100"/>
          </a:xfrm>
          <a:prstGeom prst="roundRect">
            <a:avLst>
              <a:gd name="adj" fmla="val 2281"/>
            </a:avLst>
          </a:prstGeom>
          <a:solidFill>
            <a:srgbClr val="2E75B6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807200" y="1600200"/>
            <a:ext cx="18288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演示顺序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45300" y="2146300"/>
            <a:ext cx="37973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01. 学生端核心流程：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涵盖系统首页浏览、自习室时段查询与预约、个人中心信息管理等关键操作。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02. 管理员端后台管控：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"/>
                <a:ea typeface="Noto Sans"/>
                <a:cs typeface="Noto Sans"/>
                <a:sym typeface="Noto Sans"/>
              </a:rPr>
              <a:t>展示管理员首页概览、学生信息审核维护、全平台预约记录的审批与管理功能。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845300" y="3873500"/>
            <a:ext cx="39116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"/>
                <a:ea typeface="Noto Sans"/>
                <a:cs typeface="Noto Sans"/>
                <a:sym typeface="Noto Sans"/>
              </a:rPr>
              <a:t>后续页面将呈现系统实际运行的界面截图，直观展示两端功能的交互逻辑与操作细节。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17500"/>
            <a:ext cx="77724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600" b="1" i="0" u="none" strike="noStrike" dirty="0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功能</a:t>
            </a:r>
            <a:r>
              <a:rPr lang="en-US" sz="2600" b="1" i="0" u="none" strike="noStrike" dirty="0" err="1">
                <a:solidFill>
                  <a:srgbClr val="111827"/>
                </a:solidFill>
                <a:latin typeface="Noto Sans"/>
                <a:ea typeface="Noto Sans"/>
                <a:cs typeface="Noto Sans"/>
                <a:sym typeface="Noto Sans"/>
              </a:rPr>
              <a:t>演示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520700" y="774700"/>
            <a:ext cx="86868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直观呈现教室实时状态，整合个人预约列表，打造便捷的学生操作界面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>
            <a:off x="508000" y="11176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E5E7E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1231900"/>
            <a:ext cx="11201400" cy="5168900"/>
          </a:xfrm>
          <a:prstGeom prst="roundRect">
            <a:avLst>
              <a:gd name="adj" fmla="val 147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miter lim="10000000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6477000"/>
            <a:ext cx="8051800" cy="203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学生端首页演示截图 · 整合教室状态与预约管理核心功能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lang="en-US" sz="1100"/>
          </a:p>
        </p:txBody>
      </p:sp>
      <p:pic>
        <p:nvPicPr>
          <p:cNvPr id="8" name="c51d51612f699f1b1269bb0b527ad10e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736914" y="1326821"/>
            <a:ext cx="6413371" cy="48100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8FAADC">
              <a:alpha val="100000"/>
            </a:srgbClr>
          </a:solidFill>
          <a:ln w="12700" cap="flat" cmpd="sng">
            <a:solidFill>
              <a:srgbClr val="4F46E5">
                <a:alpha val="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谢谢观看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73400"/>
            <a:ext cx="12192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DE9FE"/>
                </a:solidFill>
                <a:latin typeface="Noto Sans"/>
                <a:ea typeface="Noto Sans"/>
                <a:cs typeface="Noto Sans"/>
                <a:sym typeface="Noto Sans"/>
              </a:rPr>
              <a:t>THANKS FOR WATCHING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670300"/>
            <a:ext cx="12192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DD6FE"/>
                </a:solidFill>
                <a:latin typeface="Noto Sans"/>
                <a:ea typeface="Noto Sans"/>
                <a:cs typeface="Noto Sans"/>
                <a:sym typeface="Noto Sans"/>
              </a:rPr>
              <a:t>感谢各位老师和同学的聆听！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569700" y="6489700"/>
            <a:ext cx="800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1539</Words>
  <Application>Microsoft Office PowerPoint</Application>
  <PresentationFormat>宽屏</PresentationFormat>
  <Paragraphs>218</Paragraphs>
  <Slides>15</Slides>
  <Notes>15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Noto Sans SC</vt:lpstr>
      <vt:lpstr>等线</vt:lpstr>
      <vt:lpstr>Aptos</vt:lpstr>
      <vt:lpstr>Arial</vt:lpstr>
      <vt:lpstr>Noto Sans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admin</cp:lastModifiedBy>
  <cp:revision>25</cp:revision>
  <dcterms:modified xsi:type="dcterms:W3CDTF">2026-06-17T03:58:34Z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{"Label":"1","ContentProducer":"001191110102MACQD9K64010000","ProduceID":"7651507869501787119","ReservedCode1":"","ContentPropagator":"","PropagateID":"","ReservedCode2":""}</vt:lpwstr>
  </property>
</Properties>
</file>